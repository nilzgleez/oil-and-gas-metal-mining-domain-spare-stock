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59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6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962907-E36B-4595-A537-FDA82FF43A1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AD1AD0-87F3-4C10-AAC5-B56B623CF175}">
      <dgm:prSet phldrT="[Text]" custT="1"/>
      <dgm:spPr/>
      <dgm:t>
        <a:bodyPr/>
        <a:lstStyle/>
        <a:p>
          <a:r>
            <a:rPr lang="en-IN" sz="2800" dirty="0">
              <a:solidFill>
                <a:srgbClr val="DD6909"/>
              </a:solidFill>
            </a:rPr>
            <a:t>Recommendation</a:t>
          </a:r>
        </a:p>
      </dgm:t>
    </dgm:pt>
    <dgm:pt modelId="{79C36533-57CF-4282-99B3-B3C1124BC60F}" type="parTrans" cxnId="{A26D327E-4F38-4E23-90A1-758F67364B50}">
      <dgm:prSet/>
      <dgm:spPr/>
      <dgm:t>
        <a:bodyPr/>
        <a:lstStyle/>
        <a:p>
          <a:endParaRPr lang="en-IN"/>
        </a:p>
      </dgm:t>
    </dgm:pt>
    <dgm:pt modelId="{4842D426-06DA-4834-A6D8-BAEFF979AD56}" type="sibTrans" cxnId="{A26D327E-4F38-4E23-90A1-758F67364B50}">
      <dgm:prSet/>
      <dgm:spPr/>
      <dgm:t>
        <a:bodyPr/>
        <a:lstStyle/>
        <a:p>
          <a:endParaRPr lang="en-IN"/>
        </a:p>
      </dgm:t>
    </dgm:pt>
    <dgm:pt modelId="{FFEF5B4B-C969-4C65-BBD5-F8AA4ACF0351}">
      <dgm:prSet phldrT="[Text]" custT="1"/>
      <dgm:spPr/>
      <dgm:t>
        <a:bodyPr/>
        <a:lstStyle/>
        <a:p>
          <a:r>
            <a:rPr lang="en-US" sz="1800" dirty="0"/>
            <a:t>Maintain 5 spare units in inventory.</a:t>
          </a:r>
          <a:endParaRPr lang="en-IN" sz="1800" dirty="0"/>
        </a:p>
      </dgm:t>
    </dgm:pt>
    <dgm:pt modelId="{C66D3858-605E-4755-B140-76CF5782B417}" type="parTrans" cxnId="{63235B1E-94E2-483C-B859-220D69CCBEC0}">
      <dgm:prSet/>
      <dgm:spPr/>
      <dgm:t>
        <a:bodyPr/>
        <a:lstStyle/>
        <a:p>
          <a:endParaRPr lang="en-IN"/>
        </a:p>
      </dgm:t>
    </dgm:pt>
    <dgm:pt modelId="{192B4974-E7ED-4B71-91FA-805545AFA561}" type="sibTrans" cxnId="{63235B1E-94E2-483C-B859-220D69CCBEC0}">
      <dgm:prSet/>
      <dgm:spPr/>
      <dgm:t>
        <a:bodyPr/>
        <a:lstStyle/>
        <a:p>
          <a:endParaRPr lang="en-IN"/>
        </a:p>
      </dgm:t>
    </dgm:pt>
    <dgm:pt modelId="{11E8554C-6BA3-46D4-8E48-68B4680FDE5D}">
      <dgm:prSet phldrT="[Text]" custT="1"/>
      <dgm:spPr/>
      <dgm:t>
        <a:bodyPr/>
        <a:lstStyle/>
        <a:p>
          <a:r>
            <a:rPr lang="en-US" sz="1800" dirty="0"/>
            <a:t>Conclusion: 5 spares is the economic optimum for balancing risk and inventory cost.</a:t>
          </a:r>
          <a:endParaRPr lang="en-IN" sz="1800" dirty="0"/>
        </a:p>
      </dgm:t>
    </dgm:pt>
    <dgm:pt modelId="{8F97F0D1-E4F4-4EDD-8D4F-272E2D71DDC8}" type="parTrans" cxnId="{A05E30D0-6F9E-405C-B140-FE333278E824}">
      <dgm:prSet/>
      <dgm:spPr/>
      <dgm:t>
        <a:bodyPr/>
        <a:lstStyle/>
        <a:p>
          <a:endParaRPr lang="en-IN"/>
        </a:p>
      </dgm:t>
    </dgm:pt>
    <dgm:pt modelId="{178D3D1D-25A2-47A1-97D9-327D5F955D5D}" type="sibTrans" cxnId="{A05E30D0-6F9E-405C-B140-FE333278E824}">
      <dgm:prSet/>
      <dgm:spPr/>
      <dgm:t>
        <a:bodyPr/>
        <a:lstStyle/>
        <a:p>
          <a:endParaRPr lang="en-IN"/>
        </a:p>
      </dgm:t>
    </dgm:pt>
    <dgm:pt modelId="{61EFA1F7-180E-4B3C-A4C1-1A045B89AE24}">
      <dgm:prSet phldrT="[Text]" custT="1"/>
      <dgm:spPr/>
      <dgm:t>
        <a:bodyPr/>
        <a:lstStyle/>
        <a:p>
          <a:r>
            <a:rPr lang="en-US" sz="1800" dirty="0"/>
            <a:t>Conclusion: 5 spares is the economic optimum for balancing risk and inventory cost.</a:t>
          </a:r>
          <a:endParaRPr lang="en-IN" sz="1800" dirty="0"/>
        </a:p>
      </dgm:t>
    </dgm:pt>
    <dgm:pt modelId="{B2DB44D4-B009-421F-BA31-98B2BAD6385E}" type="parTrans" cxnId="{508DA94C-7B3C-410F-A73F-12B82ED582A5}">
      <dgm:prSet/>
      <dgm:spPr/>
      <dgm:t>
        <a:bodyPr/>
        <a:lstStyle/>
        <a:p>
          <a:endParaRPr lang="en-IN"/>
        </a:p>
      </dgm:t>
    </dgm:pt>
    <dgm:pt modelId="{BA388A04-5BAB-4F59-BFFE-DB894CA776E7}" type="sibTrans" cxnId="{508DA94C-7B3C-410F-A73F-12B82ED582A5}">
      <dgm:prSet/>
      <dgm:spPr/>
      <dgm:t>
        <a:bodyPr/>
        <a:lstStyle/>
        <a:p>
          <a:endParaRPr lang="en-IN"/>
        </a:p>
      </dgm:t>
    </dgm:pt>
    <dgm:pt modelId="{56335908-4DE1-4C10-B6CA-0348577F8992}" type="pres">
      <dgm:prSet presAssocID="{34962907-E36B-4595-A537-FDA82FF43A19}" presName="vert0" presStyleCnt="0">
        <dgm:presLayoutVars>
          <dgm:dir/>
          <dgm:animOne val="branch"/>
          <dgm:animLvl val="lvl"/>
        </dgm:presLayoutVars>
      </dgm:prSet>
      <dgm:spPr/>
    </dgm:pt>
    <dgm:pt modelId="{94E7AF17-B229-40CC-8AAE-0367DB683C05}" type="pres">
      <dgm:prSet presAssocID="{6FAD1AD0-87F3-4C10-AAC5-B56B623CF175}" presName="thickLine" presStyleLbl="alignNode1" presStyleIdx="0" presStyleCnt="1"/>
      <dgm:spPr/>
    </dgm:pt>
    <dgm:pt modelId="{07BBF166-E18D-4621-AE50-2FCD6394A120}" type="pres">
      <dgm:prSet presAssocID="{6FAD1AD0-87F3-4C10-AAC5-B56B623CF175}" presName="horz1" presStyleCnt="0"/>
      <dgm:spPr/>
    </dgm:pt>
    <dgm:pt modelId="{DC6CA0B8-7A17-456A-883C-346C0C39E958}" type="pres">
      <dgm:prSet presAssocID="{6FAD1AD0-87F3-4C10-AAC5-B56B623CF175}" presName="tx1" presStyleLbl="revTx" presStyleIdx="0" presStyleCnt="4" custScaleX="415856"/>
      <dgm:spPr/>
    </dgm:pt>
    <dgm:pt modelId="{A24B91FA-5508-42B7-992B-2332AD19C5E2}" type="pres">
      <dgm:prSet presAssocID="{6FAD1AD0-87F3-4C10-AAC5-B56B623CF175}" presName="vert1" presStyleCnt="0"/>
      <dgm:spPr/>
    </dgm:pt>
    <dgm:pt modelId="{AF6A3E4C-69FE-4C31-B970-482DA312D6CA}" type="pres">
      <dgm:prSet presAssocID="{FFEF5B4B-C969-4C65-BBD5-F8AA4ACF0351}" presName="vertSpace2a" presStyleCnt="0"/>
      <dgm:spPr/>
    </dgm:pt>
    <dgm:pt modelId="{2D4F65BE-68EC-45E9-9E33-D892FFFB495E}" type="pres">
      <dgm:prSet presAssocID="{FFEF5B4B-C969-4C65-BBD5-F8AA4ACF0351}" presName="horz2" presStyleCnt="0"/>
      <dgm:spPr/>
    </dgm:pt>
    <dgm:pt modelId="{67CBA2C6-B3CD-414D-8687-FDED730D01D4}" type="pres">
      <dgm:prSet presAssocID="{FFEF5B4B-C969-4C65-BBD5-F8AA4ACF0351}" presName="horzSpace2" presStyleCnt="0"/>
      <dgm:spPr/>
    </dgm:pt>
    <dgm:pt modelId="{25388362-6B05-442C-9A13-1D970BA45AEC}" type="pres">
      <dgm:prSet presAssocID="{FFEF5B4B-C969-4C65-BBD5-F8AA4ACF0351}" presName="tx2" presStyleLbl="revTx" presStyleIdx="1" presStyleCnt="4"/>
      <dgm:spPr/>
    </dgm:pt>
    <dgm:pt modelId="{016EF9AB-7C6B-4176-B688-818A9ED7A299}" type="pres">
      <dgm:prSet presAssocID="{FFEF5B4B-C969-4C65-BBD5-F8AA4ACF0351}" presName="vert2" presStyleCnt="0"/>
      <dgm:spPr/>
    </dgm:pt>
    <dgm:pt modelId="{BD5F4402-8799-4FE6-9063-78A1250269FB}" type="pres">
      <dgm:prSet presAssocID="{FFEF5B4B-C969-4C65-BBD5-F8AA4ACF0351}" presName="thinLine2b" presStyleLbl="callout" presStyleIdx="0" presStyleCnt="3"/>
      <dgm:spPr/>
    </dgm:pt>
    <dgm:pt modelId="{7E517A8E-C5E5-4099-9BD2-05E80382445B}" type="pres">
      <dgm:prSet presAssocID="{FFEF5B4B-C969-4C65-BBD5-F8AA4ACF0351}" presName="vertSpace2b" presStyleCnt="0"/>
      <dgm:spPr/>
    </dgm:pt>
    <dgm:pt modelId="{20327470-7740-4BA6-B78E-C6189282DA18}" type="pres">
      <dgm:prSet presAssocID="{11E8554C-6BA3-46D4-8E48-68B4680FDE5D}" presName="horz2" presStyleCnt="0"/>
      <dgm:spPr/>
    </dgm:pt>
    <dgm:pt modelId="{5BFB2DCF-3E8A-437F-B590-3E82966C2A25}" type="pres">
      <dgm:prSet presAssocID="{11E8554C-6BA3-46D4-8E48-68B4680FDE5D}" presName="horzSpace2" presStyleCnt="0"/>
      <dgm:spPr/>
    </dgm:pt>
    <dgm:pt modelId="{0B25F9BC-2F64-4FDD-979F-FB7AA6AE861E}" type="pres">
      <dgm:prSet presAssocID="{11E8554C-6BA3-46D4-8E48-68B4680FDE5D}" presName="tx2" presStyleLbl="revTx" presStyleIdx="2" presStyleCnt="4"/>
      <dgm:spPr/>
    </dgm:pt>
    <dgm:pt modelId="{3A2F0AA8-F992-45EE-9001-FB015E9076F7}" type="pres">
      <dgm:prSet presAssocID="{11E8554C-6BA3-46D4-8E48-68B4680FDE5D}" presName="vert2" presStyleCnt="0"/>
      <dgm:spPr/>
    </dgm:pt>
    <dgm:pt modelId="{D08B8747-F1B7-4ED9-9BAB-C1B638A6E575}" type="pres">
      <dgm:prSet presAssocID="{11E8554C-6BA3-46D4-8E48-68B4680FDE5D}" presName="thinLine2b" presStyleLbl="callout" presStyleIdx="1" presStyleCnt="3"/>
      <dgm:spPr/>
    </dgm:pt>
    <dgm:pt modelId="{CFE5F9E3-57A4-45F4-9BEE-406DD994E470}" type="pres">
      <dgm:prSet presAssocID="{11E8554C-6BA3-46D4-8E48-68B4680FDE5D}" presName="vertSpace2b" presStyleCnt="0"/>
      <dgm:spPr/>
    </dgm:pt>
    <dgm:pt modelId="{73805096-5B22-416F-BDCF-394360F23C6E}" type="pres">
      <dgm:prSet presAssocID="{61EFA1F7-180E-4B3C-A4C1-1A045B89AE24}" presName="horz2" presStyleCnt="0"/>
      <dgm:spPr/>
    </dgm:pt>
    <dgm:pt modelId="{767B12D7-87EC-4B48-B45F-EEE1E62349FA}" type="pres">
      <dgm:prSet presAssocID="{61EFA1F7-180E-4B3C-A4C1-1A045B89AE24}" presName="horzSpace2" presStyleCnt="0"/>
      <dgm:spPr/>
    </dgm:pt>
    <dgm:pt modelId="{9EF608ED-2A75-4829-AD98-AF6A58A29CBF}" type="pres">
      <dgm:prSet presAssocID="{61EFA1F7-180E-4B3C-A4C1-1A045B89AE24}" presName="tx2" presStyleLbl="revTx" presStyleIdx="3" presStyleCnt="4"/>
      <dgm:spPr/>
    </dgm:pt>
    <dgm:pt modelId="{E45E4463-3949-4795-83FB-EDE6556BD573}" type="pres">
      <dgm:prSet presAssocID="{61EFA1F7-180E-4B3C-A4C1-1A045B89AE24}" presName="vert2" presStyleCnt="0"/>
      <dgm:spPr/>
    </dgm:pt>
    <dgm:pt modelId="{CEDB9B2D-2D27-4220-9FC3-7EE54C89FC77}" type="pres">
      <dgm:prSet presAssocID="{61EFA1F7-180E-4B3C-A4C1-1A045B89AE24}" presName="thinLine2b" presStyleLbl="callout" presStyleIdx="2" presStyleCnt="3"/>
      <dgm:spPr/>
    </dgm:pt>
    <dgm:pt modelId="{B345832A-1C5D-4097-B582-2A814EFD0943}" type="pres">
      <dgm:prSet presAssocID="{61EFA1F7-180E-4B3C-A4C1-1A045B89AE24}" presName="vertSpace2b" presStyleCnt="0"/>
      <dgm:spPr/>
    </dgm:pt>
  </dgm:ptLst>
  <dgm:cxnLst>
    <dgm:cxn modelId="{63235B1E-94E2-483C-B859-220D69CCBEC0}" srcId="{6FAD1AD0-87F3-4C10-AAC5-B56B623CF175}" destId="{FFEF5B4B-C969-4C65-BBD5-F8AA4ACF0351}" srcOrd="0" destOrd="0" parTransId="{C66D3858-605E-4755-B140-76CF5782B417}" sibTransId="{192B4974-E7ED-4B71-91FA-805545AFA561}"/>
    <dgm:cxn modelId="{A553CE5D-52BB-4BC2-B9E9-AECF62517B00}" type="presOf" srcId="{11E8554C-6BA3-46D4-8E48-68B4680FDE5D}" destId="{0B25F9BC-2F64-4FDD-979F-FB7AA6AE861E}" srcOrd="0" destOrd="0" presId="urn:microsoft.com/office/officeart/2008/layout/LinedList"/>
    <dgm:cxn modelId="{508DA94C-7B3C-410F-A73F-12B82ED582A5}" srcId="{6FAD1AD0-87F3-4C10-AAC5-B56B623CF175}" destId="{61EFA1F7-180E-4B3C-A4C1-1A045B89AE24}" srcOrd="2" destOrd="0" parTransId="{B2DB44D4-B009-421F-BA31-98B2BAD6385E}" sibTransId="{BA388A04-5BAB-4F59-BFFE-DB894CA776E7}"/>
    <dgm:cxn modelId="{C9C42E51-8E14-4A90-83EF-9B0687FA6911}" type="presOf" srcId="{61EFA1F7-180E-4B3C-A4C1-1A045B89AE24}" destId="{9EF608ED-2A75-4829-AD98-AF6A58A29CBF}" srcOrd="0" destOrd="0" presId="urn:microsoft.com/office/officeart/2008/layout/LinedList"/>
    <dgm:cxn modelId="{A26D327E-4F38-4E23-90A1-758F67364B50}" srcId="{34962907-E36B-4595-A537-FDA82FF43A19}" destId="{6FAD1AD0-87F3-4C10-AAC5-B56B623CF175}" srcOrd="0" destOrd="0" parTransId="{79C36533-57CF-4282-99B3-B3C1124BC60F}" sibTransId="{4842D426-06DA-4834-A6D8-BAEFF979AD56}"/>
    <dgm:cxn modelId="{9AE742A7-1F0A-4BC3-992A-DFB718334E4E}" type="presOf" srcId="{FFEF5B4B-C969-4C65-BBD5-F8AA4ACF0351}" destId="{25388362-6B05-442C-9A13-1D970BA45AEC}" srcOrd="0" destOrd="0" presId="urn:microsoft.com/office/officeart/2008/layout/LinedList"/>
    <dgm:cxn modelId="{A05E30D0-6F9E-405C-B140-FE333278E824}" srcId="{6FAD1AD0-87F3-4C10-AAC5-B56B623CF175}" destId="{11E8554C-6BA3-46D4-8E48-68B4680FDE5D}" srcOrd="1" destOrd="0" parTransId="{8F97F0D1-E4F4-4EDD-8D4F-272E2D71DDC8}" sibTransId="{178D3D1D-25A2-47A1-97D9-327D5F955D5D}"/>
    <dgm:cxn modelId="{9300A5E9-2BB0-4CE2-A75A-F2808EFA342F}" type="presOf" srcId="{6FAD1AD0-87F3-4C10-AAC5-B56B623CF175}" destId="{DC6CA0B8-7A17-456A-883C-346C0C39E958}" srcOrd="0" destOrd="0" presId="urn:microsoft.com/office/officeart/2008/layout/LinedList"/>
    <dgm:cxn modelId="{0AFED1F8-AAD1-4B44-836C-30CCEE7F604B}" type="presOf" srcId="{34962907-E36B-4595-A537-FDA82FF43A19}" destId="{56335908-4DE1-4C10-B6CA-0348577F8992}" srcOrd="0" destOrd="0" presId="urn:microsoft.com/office/officeart/2008/layout/LinedList"/>
    <dgm:cxn modelId="{2A6660D4-45A9-4149-9C6C-27358920EAC1}" type="presParOf" srcId="{56335908-4DE1-4C10-B6CA-0348577F8992}" destId="{94E7AF17-B229-40CC-8AAE-0367DB683C05}" srcOrd="0" destOrd="0" presId="urn:microsoft.com/office/officeart/2008/layout/LinedList"/>
    <dgm:cxn modelId="{CEFE8500-2E58-4FF2-92A0-4B87567FEE1D}" type="presParOf" srcId="{56335908-4DE1-4C10-B6CA-0348577F8992}" destId="{07BBF166-E18D-4621-AE50-2FCD6394A120}" srcOrd="1" destOrd="0" presId="urn:microsoft.com/office/officeart/2008/layout/LinedList"/>
    <dgm:cxn modelId="{1177B670-D711-4882-B742-CB43EC294CDC}" type="presParOf" srcId="{07BBF166-E18D-4621-AE50-2FCD6394A120}" destId="{DC6CA0B8-7A17-456A-883C-346C0C39E958}" srcOrd="0" destOrd="0" presId="urn:microsoft.com/office/officeart/2008/layout/LinedList"/>
    <dgm:cxn modelId="{51713053-D50E-4D91-B399-5B5F8390237B}" type="presParOf" srcId="{07BBF166-E18D-4621-AE50-2FCD6394A120}" destId="{A24B91FA-5508-42B7-992B-2332AD19C5E2}" srcOrd="1" destOrd="0" presId="urn:microsoft.com/office/officeart/2008/layout/LinedList"/>
    <dgm:cxn modelId="{3113F96B-B6EC-4764-96F1-BA17A44DF792}" type="presParOf" srcId="{A24B91FA-5508-42B7-992B-2332AD19C5E2}" destId="{AF6A3E4C-69FE-4C31-B970-482DA312D6CA}" srcOrd="0" destOrd="0" presId="urn:microsoft.com/office/officeart/2008/layout/LinedList"/>
    <dgm:cxn modelId="{B4711DAA-5AE3-477D-8E24-91B607C22D85}" type="presParOf" srcId="{A24B91FA-5508-42B7-992B-2332AD19C5E2}" destId="{2D4F65BE-68EC-45E9-9E33-D892FFFB495E}" srcOrd="1" destOrd="0" presId="urn:microsoft.com/office/officeart/2008/layout/LinedList"/>
    <dgm:cxn modelId="{4D292BF5-517B-48C8-9E55-88CF77908F27}" type="presParOf" srcId="{2D4F65BE-68EC-45E9-9E33-D892FFFB495E}" destId="{67CBA2C6-B3CD-414D-8687-FDED730D01D4}" srcOrd="0" destOrd="0" presId="urn:microsoft.com/office/officeart/2008/layout/LinedList"/>
    <dgm:cxn modelId="{FAC6A004-B628-4D4D-8E9F-4BBB202E85CA}" type="presParOf" srcId="{2D4F65BE-68EC-45E9-9E33-D892FFFB495E}" destId="{25388362-6B05-442C-9A13-1D970BA45AEC}" srcOrd="1" destOrd="0" presId="urn:microsoft.com/office/officeart/2008/layout/LinedList"/>
    <dgm:cxn modelId="{1A983B07-1A3B-466B-AB16-A5FE366719A4}" type="presParOf" srcId="{2D4F65BE-68EC-45E9-9E33-D892FFFB495E}" destId="{016EF9AB-7C6B-4176-B688-818A9ED7A299}" srcOrd="2" destOrd="0" presId="urn:microsoft.com/office/officeart/2008/layout/LinedList"/>
    <dgm:cxn modelId="{6E9A02A0-F629-4BE0-994B-B5619940CA98}" type="presParOf" srcId="{A24B91FA-5508-42B7-992B-2332AD19C5E2}" destId="{BD5F4402-8799-4FE6-9063-78A1250269FB}" srcOrd="2" destOrd="0" presId="urn:microsoft.com/office/officeart/2008/layout/LinedList"/>
    <dgm:cxn modelId="{C5815894-40E1-4837-BB85-852407D4AD99}" type="presParOf" srcId="{A24B91FA-5508-42B7-992B-2332AD19C5E2}" destId="{7E517A8E-C5E5-4099-9BD2-05E80382445B}" srcOrd="3" destOrd="0" presId="urn:microsoft.com/office/officeart/2008/layout/LinedList"/>
    <dgm:cxn modelId="{E995D636-6C67-438F-92F0-0ED521F5D45B}" type="presParOf" srcId="{A24B91FA-5508-42B7-992B-2332AD19C5E2}" destId="{20327470-7740-4BA6-B78E-C6189282DA18}" srcOrd="4" destOrd="0" presId="urn:microsoft.com/office/officeart/2008/layout/LinedList"/>
    <dgm:cxn modelId="{D849BAA8-FF5E-4010-ABC5-AFD648C42984}" type="presParOf" srcId="{20327470-7740-4BA6-B78E-C6189282DA18}" destId="{5BFB2DCF-3E8A-437F-B590-3E82966C2A25}" srcOrd="0" destOrd="0" presId="urn:microsoft.com/office/officeart/2008/layout/LinedList"/>
    <dgm:cxn modelId="{527C2F4E-5AD7-41EC-89DB-F7040B03EB0D}" type="presParOf" srcId="{20327470-7740-4BA6-B78E-C6189282DA18}" destId="{0B25F9BC-2F64-4FDD-979F-FB7AA6AE861E}" srcOrd="1" destOrd="0" presId="urn:microsoft.com/office/officeart/2008/layout/LinedList"/>
    <dgm:cxn modelId="{D2E7FD45-DE8B-4FE1-917F-78602E82F606}" type="presParOf" srcId="{20327470-7740-4BA6-B78E-C6189282DA18}" destId="{3A2F0AA8-F992-45EE-9001-FB015E9076F7}" srcOrd="2" destOrd="0" presId="urn:microsoft.com/office/officeart/2008/layout/LinedList"/>
    <dgm:cxn modelId="{18BB5545-25CA-4D1D-917C-0B5B7CD0B9D8}" type="presParOf" srcId="{A24B91FA-5508-42B7-992B-2332AD19C5E2}" destId="{D08B8747-F1B7-4ED9-9BAB-C1B638A6E575}" srcOrd="5" destOrd="0" presId="urn:microsoft.com/office/officeart/2008/layout/LinedList"/>
    <dgm:cxn modelId="{C048FC29-881D-460E-90A4-43E121E7562A}" type="presParOf" srcId="{A24B91FA-5508-42B7-992B-2332AD19C5E2}" destId="{CFE5F9E3-57A4-45F4-9BEE-406DD994E470}" srcOrd="6" destOrd="0" presId="urn:microsoft.com/office/officeart/2008/layout/LinedList"/>
    <dgm:cxn modelId="{FB16354F-7865-44FF-9BEE-8FB1234B2B2A}" type="presParOf" srcId="{A24B91FA-5508-42B7-992B-2332AD19C5E2}" destId="{73805096-5B22-416F-BDCF-394360F23C6E}" srcOrd="7" destOrd="0" presId="urn:microsoft.com/office/officeart/2008/layout/LinedList"/>
    <dgm:cxn modelId="{1F07FDF5-E24E-4A32-A54F-704D762C3C9C}" type="presParOf" srcId="{73805096-5B22-416F-BDCF-394360F23C6E}" destId="{767B12D7-87EC-4B48-B45F-EEE1E62349FA}" srcOrd="0" destOrd="0" presId="urn:microsoft.com/office/officeart/2008/layout/LinedList"/>
    <dgm:cxn modelId="{CE787CE4-5BC6-4931-9A7C-919DA37CFA3C}" type="presParOf" srcId="{73805096-5B22-416F-BDCF-394360F23C6E}" destId="{9EF608ED-2A75-4829-AD98-AF6A58A29CBF}" srcOrd="1" destOrd="0" presId="urn:microsoft.com/office/officeart/2008/layout/LinedList"/>
    <dgm:cxn modelId="{E6E95B80-E860-4C67-A455-1ED8E1E3B481}" type="presParOf" srcId="{73805096-5B22-416F-BDCF-394360F23C6E}" destId="{E45E4463-3949-4795-83FB-EDE6556BD573}" srcOrd="2" destOrd="0" presId="urn:microsoft.com/office/officeart/2008/layout/LinedList"/>
    <dgm:cxn modelId="{148DA984-35EC-4022-A446-186460E5DDCB}" type="presParOf" srcId="{A24B91FA-5508-42B7-992B-2332AD19C5E2}" destId="{CEDB9B2D-2D27-4220-9FC3-7EE54C89FC77}" srcOrd="8" destOrd="0" presId="urn:microsoft.com/office/officeart/2008/layout/LinedList"/>
    <dgm:cxn modelId="{09FC71D7-4874-416A-AC36-52CE0370B2D7}" type="presParOf" srcId="{A24B91FA-5508-42B7-992B-2332AD19C5E2}" destId="{B345832A-1C5D-4097-B582-2A814EFD0943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7AF17-B229-40CC-8AAE-0367DB683C05}">
      <dsp:nvSpPr>
        <dsp:cNvPr id="0" name=""/>
        <dsp:cNvSpPr/>
      </dsp:nvSpPr>
      <dsp:spPr>
        <a:xfrm>
          <a:off x="0" y="0"/>
          <a:ext cx="7940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CA0B8-7A17-456A-883C-346C0C39E958}">
      <dsp:nvSpPr>
        <dsp:cNvPr id="0" name=""/>
        <dsp:cNvSpPr/>
      </dsp:nvSpPr>
      <dsp:spPr>
        <a:xfrm>
          <a:off x="0" y="0"/>
          <a:ext cx="4043553" cy="406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DD6909"/>
              </a:solidFill>
            </a:rPr>
            <a:t>Recommendation</a:t>
          </a:r>
        </a:p>
      </dsp:txBody>
      <dsp:txXfrm>
        <a:off x="0" y="0"/>
        <a:ext cx="4043553" cy="4064000"/>
      </dsp:txXfrm>
    </dsp:sp>
    <dsp:sp modelId="{25388362-6B05-442C-9A13-1D970BA45AEC}">
      <dsp:nvSpPr>
        <dsp:cNvPr id="0" name=""/>
        <dsp:cNvSpPr/>
      </dsp:nvSpPr>
      <dsp:spPr>
        <a:xfrm>
          <a:off x="4116479" y="63500"/>
          <a:ext cx="3816453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Maintain 5 spare units in inventory.</a:t>
          </a:r>
          <a:endParaRPr lang="en-IN" sz="1800" kern="1200" dirty="0"/>
        </a:p>
      </dsp:txBody>
      <dsp:txXfrm>
        <a:off x="4116479" y="63500"/>
        <a:ext cx="3816453" cy="1269999"/>
      </dsp:txXfrm>
    </dsp:sp>
    <dsp:sp modelId="{BD5F4402-8799-4FE6-9063-78A1250269FB}">
      <dsp:nvSpPr>
        <dsp:cNvPr id="0" name=""/>
        <dsp:cNvSpPr/>
      </dsp:nvSpPr>
      <dsp:spPr>
        <a:xfrm>
          <a:off x="4043553" y="1333499"/>
          <a:ext cx="388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5F9BC-2F64-4FDD-979F-FB7AA6AE861E}">
      <dsp:nvSpPr>
        <dsp:cNvPr id="0" name=""/>
        <dsp:cNvSpPr/>
      </dsp:nvSpPr>
      <dsp:spPr>
        <a:xfrm>
          <a:off x="4116479" y="1396999"/>
          <a:ext cx="3816453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Conclusion: 5 spares is the economic optimum for balancing risk and inventory cost.</a:t>
          </a:r>
          <a:endParaRPr lang="en-IN" sz="1800" kern="1200" dirty="0"/>
        </a:p>
      </dsp:txBody>
      <dsp:txXfrm>
        <a:off x="4116479" y="1396999"/>
        <a:ext cx="3816453" cy="1269999"/>
      </dsp:txXfrm>
    </dsp:sp>
    <dsp:sp modelId="{D08B8747-F1B7-4ED9-9BAB-C1B638A6E575}">
      <dsp:nvSpPr>
        <dsp:cNvPr id="0" name=""/>
        <dsp:cNvSpPr/>
      </dsp:nvSpPr>
      <dsp:spPr>
        <a:xfrm>
          <a:off x="4043553" y="2666999"/>
          <a:ext cx="388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F608ED-2A75-4829-AD98-AF6A58A29CBF}">
      <dsp:nvSpPr>
        <dsp:cNvPr id="0" name=""/>
        <dsp:cNvSpPr/>
      </dsp:nvSpPr>
      <dsp:spPr>
        <a:xfrm>
          <a:off x="4116479" y="2730499"/>
          <a:ext cx="3816453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Conclusion: 5 spares is the economic optimum for balancing risk and inventory cost.</a:t>
          </a:r>
          <a:endParaRPr lang="en-IN" sz="1800" kern="1200" dirty="0"/>
        </a:p>
      </dsp:txBody>
      <dsp:txXfrm>
        <a:off x="4116479" y="2730499"/>
        <a:ext cx="3816453" cy="1269999"/>
      </dsp:txXfrm>
    </dsp:sp>
    <dsp:sp modelId="{CEDB9B2D-2D27-4220-9FC3-7EE54C89FC77}">
      <dsp:nvSpPr>
        <dsp:cNvPr id="0" name=""/>
        <dsp:cNvSpPr/>
      </dsp:nvSpPr>
      <dsp:spPr>
        <a:xfrm>
          <a:off x="4043553" y="4000499"/>
          <a:ext cx="388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D21AD-6E7F-4531-A84B-EC4EBB8AB93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9FB83-4CB3-4E26-9356-D5802CA4A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9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9da7cdce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9da7cdce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 txBox="1">
            <a:spLocks noGrp="1"/>
          </p:cNvSpPr>
          <p:nvPr>
            <p:ph type="title"/>
          </p:nvPr>
        </p:nvSpPr>
        <p:spPr>
          <a:xfrm>
            <a:off x="457200" y="763833"/>
            <a:ext cx="8229600" cy="298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dirty="0"/>
              <a:t>Spare Stock Strategy – Risk Mitigation</a:t>
            </a:r>
            <a:endParaRPr dirty="0"/>
          </a:p>
        </p:txBody>
      </p:sp>
      <p:sp>
        <p:nvSpPr>
          <p:cNvPr id="315" name="Google Shape;315;p24"/>
          <p:cNvSpPr txBox="1"/>
          <p:nvPr/>
        </p:nvSpPr>
        <p:spPr>
          <a:xfrm>
            <a:off x="6159045" y="4912194"/>
            <a:ext cx="22485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400" dirty="0">
                <a:latin typeface="Roboto"/>
                <a:ea typeface="Roboto"/>
                <a:cs typeface="Roboto"/>
                <a:sym typeface="Roboto"/>
              </a:rPr>
              <a:t>Mitigating production risk</a:t>
            </a:r>
            <a:endParaRPr sz="1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6067604" y="2081049"/>
            <a:ext cx="2619195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400" dirty="0">
                <a:latin typeface="Roboto"/>
                <a:ea typeface="Roboto"/>
                <a:cs typeface="Roboto"/>
                <a:sym typeface="Roboto"/>
              </a:rPr>
              <a:t>Total spare count in inventory</a:t>
            </a:r>
            <a:endParaRPr sz="1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6159045" y="3474333"/>
            <a:ext cx="22485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400" dirty="0">
                <a:latin typeface="Roboto"/>
                <a:ea typeface="Roboto"/>
                <a:cs typeface="Roboto"/>
                <a:sym typeface="Roboto"/>
              </a:rPr>
              <a:t>Achieve economically</a:t>
            </a:r>
            <a:endParaRPr sz="1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527364" y="4942501"/>
            <a:ext cx="450000" cy="450000"/>
          </a:xfrm>
          <a:prstGeom prst="ellipse">
            <a:avLst/>
          </a:prstGeom>
          <a:solidFill>
            <a:schemeClr val="accent3"/>
          </a:solidFill>
          <a:ln w="38100" cap="flat" cmpd="sng">
            <a:solidFill>
              <a:srgbClr val="A817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5527364" y="2149130"/>
            <a:ext cx="450000" cy="4500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rgbClr val="B892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5527364" y="3545815"/>
            <a:ext cx="450000" cy="4500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5202262" y="2364672"/>
            <a:ext cx="273792" cy="2818289"/>
          </a:xfrm>
          <a:custGeom>
            <a:avLst/>
            <a:gdLst/>
            <a:ahLst/>
            <a:cxnLst/>
            <a:rect l="l" t="t" r="r" b="b"/>
            <a:pathLst>
              <a:path w="1646" h="9029" extrusionOk="0">
                <a:moveTo>
                  <a:pt x="0" y="1"/>
                </a:moveTo>
                <a:lnTo>
                  <a:pt x="0" y="9028"/>
                </a:lnTo>
                <a:lnTo>
                  <a:pt x="1646" y="9028"/>
                </a:lnTo>
                <a:lnTo>
                  <a:pt x="1646" y="8966"/>
                </a:lnTo>
                <a:lnTo>
                  <a:pt x="56" y="8966"/>
                </a:lnTo>
                <a:lnTo>
                  <a:pt x="56" y="56"/>
                </a:lnTo>
                <a:lnTo>
                  <a:pt x="1646" y="56"/>
                </a:lnTo>
                <a:lnTo>
                  <a:pt x="1646" y="1"/>
                </a:lnTo>
                <a:close/>
              </a:path>
            </a:pathLst>
          </a:custGeom>
          <a:solidFill>
            <a:schemeClr val="accent5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3063788" y="3769083"/>
            <a:ext cx="2412236" cy="9478"/>
          </a:xfrm>
          <a:custGeom>
            <a:avLst/>
            <a:gdLst/>
            <a:ahLst/>
            <a:cxnLst/>
            <a:rect l="l" t="t" r="r" b="b"/>
            <a:pathLst>
              <a:path w="11576" h="57" extrusionOk="0">
                <a:moveTo>
                  <a:pt x="0" y="1"/>
                </a:moveTo>
                <a:lnTo>
                  <a:pt x="0" y="56"/>
                </a:lnTo>
                <a:lnTo>
                  <a:pt x="11576" y="56"/>
                </a:lnTo>
                <a:lnTo>
                  <a:pt x="11576" y="1"/>
                </a:lnTo>
                <a:close/>
              </a:path>
            </a:pathLst>
          </a:custGeom>
          <a:solidFill>
            <a:schemeClr val="accent5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827895" y="2133599"/>
            <a:ext cx="3295800" cy="32955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070095" y="2375799"/>
            <a:ext cx="2811300" cy="2811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1328905" y="2634609"/>
            <a:ext cx="2293800" cy="22938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3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5113464" y="3682941"/>
            <a:ext cx="182700" cy="1827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5113464" y="5082319"/>
            <a:ext cx="182700" cy="182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5113464" y="2283562"/>
            <a:ext cx="182700" cy="18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1589550" y="2895300"/>
            <a:ext cx="1772400" cy="17724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GOAL</a:t>
            </a:r>
            <a:endParaRPr sz="2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D767744-9905-5CF4-953E-D9FB3F563E61}"/>
              </a:ext>
            </a:extLst>
          </p:cNvPr>
          <p:cNvGrpSpPr/>
          <p:nvPr/>
        </p:nvGrpSpPr>
        <p:grpSpPr>
          <a:xfrm>
            <a:off x="386644" y="176609"/>
            <a:ext cx="8803885" cy="5683219"/>
            <a:chOff x="1985888" y="1303564"/>
            <a:chExt cx="9717595" cy="674115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B73050-D8FB-0C4C-7B50-A7EFCCB42B76}"/>
                </a:ext>
              </a:extLst>
            </p:cNvPr>
            <p:cNvGrpSpPr/>
            <p:nvPr/>
          </p:nvGrpSpPr>
          <p:grpSpPr>
            <a:xfrm>
              <a:off x="1985888" y="1303566"/>
              <a:ext cx="2540573" cy="6741154"/>
              <a:chOff x="1477887" y="1303566"/>
              <a:chExt cx="2540573" cy="674115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541861C-27AE-A71C-02F4-B93C69B88E25}"/>
                  </a:ext>
                </a:extLst>
              </p:cNvPr>
              <p:cNvSpPr/>
              <p:nvPr/>
            </p:nvSpPr>
            <p:spPr>
              <a:xfrm>
                <a:off x="1477887" y="1303566"/>
                <a:ext cx="2264928" cy="2569520"/>
              </a:xfrm>
              <a:custGeom>
                <a:avLst/>
                <a:gdLst>
                  <a:gd name="connsiteX0" fmla="*/ -49 w 2449691"/>
                  <a:gd name="connsiteY0" fmla="*/ 774520 h 2779130"/>
                  <a:gd name="connsiteX1" fmla="*/ 79910 w 2449691"/>
                  <a:gd name="connsiteY1" fmla="*/ 634591 h 2779130"/>
                  <a:gd name="connsiteX2" fmla="*/ 1143903 w 2449691"/>
                  <a:gd name="connsiteY2" fmla="*/ 21569 h 2779130"/>
                  <a:gd name="connsiteX3" fmla="*/ 1305421 w 2449691"/>
                  <a:gd name="connsiteY3" fmla="*/ 21569 h 2779130"/>
                  <a:gd name="connsiteX4" fmla="*/ 2369681 w 2449691"/>
                  <a:gd name="connsiteY4" fmla="*/ 635924 h 2779130"/>
                  <a:gd name="connsiteX5" fmla="*/ 2449640 w 2449691"/>
                  <a:gd name="connsiteY5" fmla="*/ 775852 h 2779130"/>
                  <a:gd name="connsiteX6" fmla="*/ 2449640 w 2449691"/>
                  <a:gd name="connsiteY6" fmla="*/ 2004561 h 2779130"/>
                  <a:gd name="connsiteX7" fmla="*/ 2369681 w 2449691"/>
                  <a:gd name="connsiteY7" fmla="*/ 2144223 h 2779130"/>
                  <a:gd name="connsiteX8" fmla="*/ 1306221 w 2449691"/>
                  <a:gd name="connsiteY8" fmla="*/ 2757512 h 2779130"/>
                  <a:gd name="connsiteX9" fmla="*/ 1144703 w 2449691"/>
                  <a:gd name="connsiteY9" fmla="*/ 2757512 h 2779130"/>
                  <a:gd name="connsiteX10" fmla="*/ 80710 w 2449691"/>
                  <a:gd name="connsiteY10" fmla="*/ 2142891 h 2779130"/>
                  <a:gd name="connsiteX11" fmla="*/ 750 w 2449691"/>
                  <a:gd name="connsiteY11" fmla="*/ 2003228 h 277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49691" h="2779130">
                    <a:moveTo>
                      <a:pt x="-49" y="774520"/>
                    </a:moveTo>
                    <a:cubicBezTo>
                      <a:pt x="-233" y="716962"/>
                      <a:pt x="30228" y="663654"/>
                      <a:pt x="79910" y="634591"/>
                    </a:cubicBezTo>
                    <a:lnTo>
                      <a:pt x="1143903" y="21569"/>
                    </a:lnTo>
                    <a:cubicBezTo>
                      <a:pt x="1193891" y="-7229"/>
                      <a:pt x="1255433" y="-7229"/>
                      <a:pt x="1305421" y="21569"/>
                    </a:cubicBezTo>
                    <a:lnTo>
                      <a:pt x="2369681" y="635924"/>
                    </a:lnTo>
                    <a:cubicBezTo>
                      <a:pt x="2419362" y="664986"/>
                      <a:pt x="2449827" y="718295"/>
                      <a:pt x="2449640" y="775852"/>
                    </a:cubicBezTo>
                    <a:lnTo>
                      <a:pt x="2449640" y="2004561"/>
                    </a:lnTo>
                    <a:cubicBezTo>
                      <a:pt x="2449773" y="2062052"/>
                      <a:pt x="2419309" y="2115251"/>
                      <a:pt x="2369681" y="2144223"/>
                    </a:cubicBezTo>
                    <a:lnTo>
                      <a:pt x="1306221" y="2757512"/>
                    </a:lnTo>
                    <a:cubicBezTo>
                      <a:pt x="1256233" y="2786297"/>
                      <a:pt x="1194691" y="2786297"/>
                      <a:pt x="1144703" y="2757512"/>
                    </a:cubicBezTo>
                    <a:lnTo>
                      <a:pt x="80710" y="2142891"/>
                    </a:lnTo>
                    <a:cubicBezTo>
                      <a:pt x="31111" y="2113865"/>
                      <a:pt x="662" y="2060692"/>
                      <a:pt x="750" y="2003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784B9D3-18C4-A77B-D91B-77F83EFDA7B0}"/>
                  </a:ext>
                </a:extLst>
              </p:cNvPr>
              <p:cNvSpPr/>
              <p:nvPr/>
            </p:nvSpPr>
            <p:spPr>
              <a:xfrm>
                <a:off x="1624255" y="1450084"/>
                <a:ext cx="1972193" cy="2276407"/>
              </a:xfrm>
              <a:custGeom>
                <a:avLst/>
                <a:gdLst>
                  <a:gd name="connsiteX0" fmla="*/ 240 w 2133076"/>
                  <a:gd name="connsiteY0" fmla="*/ 616049 h 2462106"/>
                  <a:gd name="connsiteX1" fmla="*/ 240 w 2133076"/>
                  <a:gd name="connsiteY1" fmla="*/ 613384 h 2462106"/>
                  <a:gd name="connsiteX2" fmla="*/ 1064499 w 2133076"/>
                  <a:gd name="connsiteY2" fmla="*/ 362 h 2462106"/>
                  <a:gd name="connsiteX3" fmla="*/ 1067431 w 2133076"/>
                  <a:gd name="connsiteY3" fmla="*/ 362 h 2462106"/>
                  <a:gd name="connsiteX4" fmla="*/ 2131424 w 2133076"/>
                  <a:gd name="connsiteY4" fmla="*/ 613384 h 2462106"/>
                  <a:gd name="connsiteX5" fmla="*/ 2133023 w 2133076"/>
                  <a:gd name="connsiteY5" fmla="*/ 616049 h 2462106"/>
                  <a:gd name="connsiteX6" fmla="*/ 2133023 w 2133076"/>
                  <a:gd name="connsiteY6" fmla="*/ 1844758 h 2462106"/>
                  <a:gd name="connsiteX7" fmla="*/ 2131424 w 2133076"/>
                  <a:gd name="connsiteY7" fmla="*/ 1847156 h 2462106"/>
                  <a:gd name="connsiteX8" fmla="*/ 1068764 w 2133076"/>
                  <a:gd name="connsiteY8" fmla="*/ 2461777 h 2462106"/>
                  <a:gd name="connsiteX9" fmla="*/ 1065832 w 2133076"/>
                  <a:gd name="connsiteY9" fmla="*/ 2461777 h 2462106"/>
                  <a:gd name="connsiteX10" fmla="*/ 1572 w 2133076"/>
                  <a:gd name="connsiteY10" fmla="*/ 1846890 h 2462106"/>
                  <a:gd name="connsiteX11" fmla="*/ 1572 w 2133076"/>
                  <a:gd name="connsiteY11" fmla="*/ 1844491 h 246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33076" h="2462106">
                    <a:moveTo>
                      <a:pt x="240" y="616049"/>
                    </a:moveTo>
                    <a:cubicBezTo>
                      <a:pt x="-147" y="615204"/>
                      <a:pt x="-147" y="614229"/>
                      <a:pt x="240" y="613384"/>
                    </a:cubicBezTo>
                    <a:lnTo>
                      <a:pt x="1064499" y="362"/>
                    </a:lnTo>
                    <a:cubicBezTo>
                      <a:pt x="1065406" y="-160"/>
                      <a:pt x="1066525" y="-160"/>
                      <a:pt x="1067431" y="362"/>
                    </a:cubicBezTo>
                    <a:lnTo>
                      <a:pt x="2131424" y="613384"/>
                    </a:lnTo>
                    <a:cubicBezTo>
                      <a:pt x="2132410" y="613893"/>
                      <a:pt x="2133050" y="614927"/>
                      <a:pt x="2133023" y="616049"/>
                    </a:cubicBezTo>
                    <a:lnTo>
                      <a:pt x="2133023" y="1844758"/>
                    </a:lnTo>
                    <a:cubicBezTo>
                      <a:pt x="2133077" y="1845824"/>
                      <a:pt x="2132437" y="1846810"/>
                      <a:pt x="2131424" y="1847156"/>
                    </a:cubicBezTo>
                    <a:lnTo>
                      <a:pt x="1068764" y="2461777"/>
                    </a:lnTo>
                    <a:cubicBezTo>
                      <a:pt x="1067828" y="2462177"/>
                      <a:pt x="1066767" y="2462177"/>
                      <a:pt x="1065832" y="2461777"/>
                    </a:cubicBezTo>
                    <a:lnTo>
                      <a:pt x="1572" y="1846890"/>
                    </a:lnTo>
                    <a:cubicBezTo>
                      <a:pt x="1143" y="1846144"/>
                      <a:pt x="1143" y="1845237"/>
                      <a:pt x="1572" y="1844491"/>
                    </a:cubicBezTo>
                    <a:close/>
                  </a:path>
                </a:pathLst>
              </a:custGeom>
              <a:solidFill>
                <a:schemeClr val="bg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6A4AF5F-C2E2-D354-C213-E4C06F2E13B1}"/>
                  </a:ext>
                </a:extLst>
              </p:cNvPr>
              <p:cNvSpPr/>
              <p:nvPr/>
            </p:nvSpPr>
            <p:spPr>
              <a:xfrm>
                <a:off x="1723208" y="1563311"/>
                <a:ext cx="1774286" cy="2048806"/>
              </a:xfrm>
              <a:custGeom>
                <a:avLst/>
                <a:gdLst>
                  <a:gd name="connsiteX0" fmla="*/ 0 w 1919025"/>
                  <a:gd name="connsiteY0" fmla="*/ 1661822 h 2215939"/>
                  <a:gd name="connsiteX1" fmla="*/ 0 w 1919025"/>
                  <a:gd name="connsiteY1" fmla="*/ 554118 h 2215939"/>
                  <a:gd name="connsiteX2" fmla="*/ 959513 w 1919025"/>
                  <a:gd name="connsiteY2" fmla="*/ 0 h 2215939"/>
                  <a:gd name="connsiteX3" fmla="*/ 1919026 w 1919025"/>
                  <a:gd name="connsiteY3" fmla="*/ 554118 h 2215939"/>
                  <a:gd name="connsiteX4" fmla="*/ 1919026 w 1919025"/>
                  <a:gd name="connsiteY4" fmla="*/ 1661822 h 2215939"/>
                  <a:gd name="connsiteX5" fmla="*/ 959513 w 1919025"/>
                  <a:gd name="connsiteY5" fmla="*/ 2215940 h 2215939"/>
                  <a:gd name="connsiteX6" fmla="*/ 0 w 1919025"/>
                  <a:gd name="connsiteY6" fmla="*/ 1661822 h 221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9025" h="2215939">
                    <a:moveTo>
                      <a:pt x="0" y="1661822"/>
                    </a:moveTo>
                    <a:lnTo>
                      <a:pt x="0" y="554118"/>
                    </a:lnTo>
                    <a:lnTo>
                      <a:pt x="959513" y="0"/>
                    </a:lnTo>
                    <a:lnTo>
                      <a:pt x="1919026" y="554118"/>
                    </a:lnTo>
                    <a:lnTo>
                      <a:pt x="1919026" y="1661822"/>
                    </a:lnTo>
                    <a:lnTo>
                      <a:pt x="959513" y="2215940"/>
                    </a:lnTo>
                    <a:lnTo>
                      <a:pt x="0" y="1661822"/>
                    </a:lnTo>
                    <a:close/>
                  </a:path>
                </a:pathLst>
              </a:custGeom>
              <a:noFill/>
              <a:ln w="26648" cap="flat">
                <a:solidFill>
                  <a:schemeClr val="accent1"/>
                </a:solidFill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3E56A73-D70F-E88A-37D6-CD0E38754449}"/>
                  </a:ext>
                </a:extLst>
              </p:cNvPr>
              <p:cNvSpPr/>
              <p:nvPr/>
            </p:nvSpPr>
            <p:spPr>
              <a:xfrm>
                <a:off x="1746282" y="7608787"/>
                <a:ext cx="2042648" cy="435933"/>
              </a:xfrm>
              <a:custGeom>
                <a:avLst/>
                <a:gdLst>
                  <a:gd name="connsiteX0" fmla="*/ 2152990 w 2209278"/>
                  <a:gd name="connsiteY0" fmla="*/ -30 h 471493"/>
                  <a:gd name="connsiteX1" fmla="*/ 56188 w 2209278"/>
                  <a:gd name="connsiteY1" fmla="*/ -30 h 471493"/>
                  <a:gd name="connsiteX2" fmla="*/ -50 w 2209278"/>
                  <a:gd name="connsiteY2" fmla="*/ 2636 h 471493"/>
                  <a:gd name="connsiteX3" fmla="*/ 620435 w 2209278"/>
                  <a:gd name="connsiteY3" fmla="*/ 471464 h 471493"/>
                  <a:gd name="connsiteX4" fmla="*/ 1588477 w 2209278"/>
                  <a:gd name="connsiteY4" fmla="*/ 471464 h 471493"/>
                  <a:gd name="connsiteX5" fmla="*/ 2209228 w 2209278"/>
                  <a:gd name="connsiteY5" fmla="*/ 2103 h 471493"/>
                  <a:gd name="connsiteX6" fmla="*/ 2152990 w 2209278"/>
                  <a:gd name="connsiteY6" fmla="*/ -30 h 47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09278" h="471493">
                    <a:moveTo>
                      <a:pt x="2152990" y="-30"/>
                    </a:moveTo>
                    <a:lnTo>
                      <a:pt x="56188" y="-30"/>
                    </a:lnTo>
                    <a:cubicBezTo>
                      <a:pt x="37264" y="-30"/>
                      <a:pt x="18340" y="-30"/>
                      <a:pt x="-50" y="2636"/>
                    </a:cubicBezTo>
                    <a:cubicBezTo>
                      <a:pt x="78795" y="279988"/>
                      <a:pt x="332088" y="471384"/>
                      <a:pt x="620435" y="471464"/>
                    </a:cubicBezTo>
                    <a:lnTo>
                      <a:pt x="1588477" y="471464"/>
                    </a:lnTo>
                    <a:cubicBezTo>
                      <a:pt x="1877050" y="471331"/>
                      <a:pt x="2130468" y="279721"/>
                      <a:pt x="2209228" y="2103"/>
                    </a:cubicBezTo>
                    <a:cubicBezTo>
                      <a:pt x="2190571" y="2103"/>
                      <a:pt x="2171914" y="-30"/>
                      <a:pt x="2152990" y="-3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DB0BB2-260B-41CF-18EC-BB9954D0DFCA}"/>
                  </a:ext>
                </a:extLst>
              </p:cNvPr>
              <p:cNvSpPr txBox="1"/>
              <p:nvPr/>
            </p:nvSpPr>
            <p:spPr>
              <a:xfrm>
                <a:off x="2453096" y="1919928"/>
                <a:ext cx="3145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</a:t>
                </a:r>
                <a:endParaRPr lang="en-I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0AB64C-B563-3295-90EB-3AA1BD1C4E56}"/>
                  </a:ext>
                </a:extLst>
              </p:cNvPr>
              <p:cNvSpPr txBox="1"/>
              <p:nvPr/>
            </p:nvSpPr>
            <p:spPr>
              <a:xfrm>
                <a:off x="1574576" y="3976342"/>
                <a:ext cx="2443884" cy="3084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Input</a:t>
                </a:r>
              </a:p>
              <a:p>
                <a:r>
                  <a:rPr lang="en-US" sz="1400" dirty="0"/>
                  <a:t>System: 8 installed units</a:t>
                </a:r>
              </a:p>
              <a:p>
                <a:endParaRPr lang="en-US" sz="800" dirty="0"/>
              </a:p>
              <a:p>
                <a:r>
                  <a:rPr lang="en-US" sz="1400" dirty="0"/>
                  <a:t>MTBF: 20 years per unit</a:t>
                </a:r>
              </a:p>
              <a:p>
                <a:endParaRPr lang="en-US" sz="1000" dirty="0"/>
              </a:p>
              <a:p>
                <a:r>
                  <a:rPr lang="en-US" sz="1400" dirty="0"/>
                  <a:t>Lead time: 300 ± 60 days</a:t>
                </a:r>
              </a:p>
              <a:p>
                <a:endParaRPr lang="en-US" sz="1050" dirty="0"/>
              </a:p>
              <a:p>
                <a:r>
                  <a:rPr lang="en-US" sz="1400" dirty="0"/>
                  <a:t>Spare cost: $100,000 each</a:t>
                </a:r>
              </a:p>
              <a:p>
                <a:endParaRPr lang="en-US" sz="1050" dirty="0"/>
              </a:p>
              <a:p>
                <a:r>
                  <a:rPr lang="en-US" sz="1400" dirty="0"/>
                  <a:t>Risk exposure cost: $13.5M/day</a:t>
                </a:r>
              </a:p>
              <a:p>
                <a:endParaRPr lang="en-US" sz="700" dirty="0"/>
              </a:p>
              <a:p>
                <a:r>
                  <a:rPr lang="en-US" sz="1400" dirty="0"/>
                  <a:t>Analysis period: 25 years</a:t>
                </a:r>
              </a:p>
            </p:txBody>
          </p:sp>
          <p:pic>
            <p:nvPicPr>
              <p:cNvPr id="33" name="Picture 2" descr="Free icons - Free vector icons - Free SVG, PSD, PNG, EPS, Ai &amp; Icon Font">
                <a:extLst>
                  <a:ext uri="{FF2B5EF4-FFF2-40B4-BE49-F238E27FC236}">
                    <a16:creationId xmlns:a16="http://schemas.microsoft.com/office/drawing/2014/main" id="{C251D05C-5B4C-69A1-980C-7520293779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9486" y="2600114"/>
                <a:ext cx="501730" cy="5017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03C7C3-522E-7E96-F4F5-54F086294580}"/>
                </a:ext>
              </a:extLst>
            </p:cNvPr>
            <p:cNvGrpSpPr/>
            <p:nvPr/>
          </p:nvGrpSpPr>
          <p:grpSpPr>
            <a:xfrm>
              <a:off x="5079770" y="1303564"/>
              <a:ext cx="2264928" cy="4998816"/>
              <a:chOff x="4963655" y="1303564"/>
              <a:chExt cx="2264928" cy="4998816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8DDEF5A-AF8A-DED0-1457-7E5BADC26EB3}"/>
                  </a:ext>
                </a:extLst>
              </p:cNvPr>
              <p:cNvSpPr/>
              <p:nvPr/>
            </p:nvSpPr>
            <p:spPr>
              <a:xfrm>
                <a:off x="5052124" y="3494573"/>
                <a:ext cx="2087990" cy="2807806"/>
              </a:xfrm>
              <a:custGeom>
                <a:avLst/>
                <a:gdLst>
                  <a:gd name="connsiteX0" fmla="*/ 2258270 w 2258319"/>
                  <a:gd name="connsiteY0" fmla="*/ 2391288 h 3036855"/>
                  <a:gd name="connsiteX1" fmla="*/ 2258270 w 2258319"/>
                  <a:gd name="connsiteY1" fmla="*/ 111114 h 3036855"/>
                  <a:gd name="connsiteX2" fmla="*/ 1424027 w 2258319"/>
                  <a:gd name="connsiteY2" fmla="*/ 592469 h 3036855"/>
                  <a:gd name="connsiteX3" fmla="*/ 1026095 w 2258319"/>
                  <a:gd name="connsiteY3" fmla="*/ 592469 h 3036855"/>
                  <a:gd name="connsiteX4" fmla="*/ -50 w 2258319"/>
                  <a:gd name="connsiteY4" fmla="*/ -30 h 3036855"/>
                  <a:gd name="connsiteX5" fmla="*/ -50 w 2258319"/>
                  <a:gd name="connsiteY5" fmla="*/ 2391288 h 3036855"/>
                  <a:gd name="connsiteX6" fmla="*/ 645489 w 2258319"/>
                  <a:gd name="connsiteY6" fmla="*/ 3036826 h 3036855"/>
                  <a:gd name="connsiteX7" fmla="*/ 1613530 w 2258319"/>
                  <a:gd name="connsiteY7" fmla="*/ 3036826 h 3036855"/>
                  <a:gd name="connsiteX8" fmla="*/ 2258270 w 2258319"/>
                  <a:gd name="connsiteY8" fmla="*/ 2391288 h 3036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8319" h="3036855">
                    <a:moveTo>
                      <a:pt x="2258270" y="2391288"/>
                    </a:moveTo>
                    <a:lnTo>
                      <a:pt x="2258270" y="111114"/>
                    </a:lnTo>
                    <a:lnTo>
                      <a:pt x="1424027" y="592469"/>
                    </a:lnTo>
                    <a:cubicBezTo>
                      <a:pt x="1300809" y="663180"/>
                      <a:pt x="1149313" y="663180"/>
                      <a:pt x="1026095" y="592469"/>
                    </a:cubicBezTo>
                    <a:lnTo>
                      <a:pt x="-50" y="-30"/>
                    </a:lnTo>
                    <a:lnTo>
                      <a:pt x="-50" y="2391288"/>
                    </a:lnTo>
                    <a:cubicBezTo>
                      <a:pt x="-50" y="2747800"/>
                      <a:pt x="288976" y="3036826"/>
                      <a:pt x="645489" y="3036826"/>
                    </a:cubicBezTo>
                    <a:lnTo>
                      <a:pt x="1613530" y="3036826"/>
                    </a:lnTo>
                    <a:cubicBezTo>
                      <a:pt x="1969803" y="3036533"/>
                      <a:pt x="2258430" y="2747560"/>
                      <a:pt x="2258270" y="2391288"/>
                    </a:cubicBezTo>
                    <a:close/>
                  </a:path>
                </a:pathLst>
              </a:custGeom>
              <a:solidFill>
                <a:schemeClr val="bg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303BB0E-C1D1-DA7A-272E-6E4DD013F993}"/>
                  </a:ext>
                </a:extLst>
              </p:cNvPr>
              <p:cNvSpPr/>
              <p:nvPr/>
            </p:nvSpPr>
            <p:spPr>
              <a:xfrm>
                <a:off x="4963655" y="1303564"/>
                <a:ext cx="2264928" cy="2569542"/>
              </a:xfrm>
              <a:custGeom>
                <a:avLst/>
                <a:gdLst>
                  <a:gd name="connsiteX0" fmla="*/ -49 w 2449691"/>
                  <a:gd name="connsiteY0" fmla="*/ 774524 h 2779154"/>
                  <a:gd name="connsiteX1" fmla="*/ 79910 w 2449691"/>
                  <a:gd name="connsiteY1" fmla="*/ 634595 h 2779154"/>
                  <a:gd name="connsiteX2" fmla="*/ 1144169 w 2449691"/>
                  <a:gd name="connsiteY2" fmla="*/ 21573 h 2779154"/>
                  <a:gd name="connsiteX3" fmla="*/ 1305421 w 2449691"/>
                  <a:gd name="connsiteY3" fmla="*/ 21573 h 2779154"/>
                  <a:gd name="connsiteX4" fmla="*/ 2369681 w 2449691"/>
                  <a:gd name="connsiteY4" fmla="*/ 635928 h 2779154"/>
                  <a:gd name="connsiteX5" fmla="*/ 2449640 w 2449691"/>
                  <a:gd name="connsiteY5" fmla="*/ 775856 h 2779154"/>
                  <a:gd name="connsiteX6" fmla="*/ 2449640 w 2449691"/>
                  <a:gd name="connsiteY6" fmla="*/ 2004565 h 2779154"/>
                  <a:gd name="connsiteX7" fmla="*/ 2369681 w 2449691"/>
                  <a:gd name="connsiteY7" fmla="*/ 2144227 h 2779154"/>
                  <a:gd name="connsiteX8" fmla="*/ 1305954 w 2449691"/>
                  <a:gd name="connsiteY8" fmla="*/ 2757516 h 2779154"/>
                  <a:gd name="connsiteX9" fmla="*/ 1144703 w 2449691"/>
                  <a:gd name="connsiteY9" fmla="*/ 2757516 h 2779154"/>
                  <a:gd name="connsiteX10" fmla="*/ 79910 w 2449691"/>
                  <a:gd name="connsiteY10" fmla="*/ 2142895 h 2779154"/>
                  <a:gd name="connsiteX11" fmla="*/ -49 w 2449691"/>
                  <a:gd name="connsiteY11" fmla="*/ 2003232 h 277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49691" h="2779154">
                    <a:moveTo>
                      <a:pt x="-49" y="774524"/>
                    </a:moveTo>
                    <a:cubicBezTo>
                      <a:pt x="-236" y="716966"/>
                      <a:pt x="30229" y="663658"/>
                      <a:pt x="79910" y="634595"/>
                    </a:cubicBezTo>
                    <a:lnTo>
                      <a:pt x="1144169" y="21573"/>
                    </a:lnTo>
                    <a:cubicBezTo>
                      <a:pt x="1194064" y="-7231"/>
                      <a:pt x="1255527" y="-7231"/>
                      <a:pt x="1305421" y="21573"/>
                    </a:cubicBezTo>
                    <a:lnTo>
                      <a:pt x="2369681" y="635928"/>
                    </a:lnTo>
                    <a:cubicBezTo>
                      <a:pt x="2419362" y="664990"/>
                      <a:pt x="2449827" y="718299"/>
                      <a:pt x="2449640" y="775856"/>
                    </a:cubicBezTo>
                    <a:lnTo>
                      <a:pt x="2449640" y="2004565"/>
                    </a:lnTo>
                    <a:cubicBezTo>
                      <a:pt x="2449720" y="2062029"/>
                      <a:pt x="2419282" y="2115202"/>
                      <a:pt x="2369681" y="2144227"/>
                    </a:cubicBezTo>
                    <a:lnTo>
                      <a:pt x="1305954" y="2757516"/>
                    </a:lnTo>
                    <a:cubicBezTo>
                      <a:pt x="1256060" y="2786327"/>
                      <a:pt x="1194598" y="2786327"/>
                      <a:pt x="1144703" y="2757516"/>
                    </a:cubicBezTo>
                    <a:lnTo>
                      <a:pt x="79910" y="2142895"/>
                    </a:lnTo>
                    <a:cubicBezTo>
                      <a:pt x="30309" y="2113869"/>
                      <a:pt x="-130" y="2060696"/>
                      <a:pt x="-49" y="200323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7D11F81-CC30-AC30-BF60-8DDB6E81AC35}"/>
                  </a:ext>
                </a:extLst>
              </p:cNvPr>
              <p:cNvSpPr/>
              <p:nvPr/>
            </p:nvSpPr>
            <p:spPr>
              <a:xfrm>
                <a:off x="5109536" y="1450086"/>
                <a:ext cx="1973167" cy="2276407"/>
              </a:xfrm>
              <a:custGeom>
                <a:avLst/>
                <a:gdLst>
                  <a:gd name="connsiteX0" fmla="*/ -50 w 2134130"/>
                  <a:gd name="connsiteY0" fmla="*/ 616049 h 2462106"/>
                  <a:gd name="connsiteX1" fmla="*/ 1550 w 2134130"/>
                  <a:gd name="connsiteY1" fmla="*/ 613384 h 2462106"/>
                  <a:gd name="connsiteX2" fmla="*/ 1065543 w 2134130"/>
                  <a:gd name="connsiteY2" fmla="*/ 362 h 2462106"/>
                  <a:gd name="connsiteX3" fmla="*/ 1068475 w 2134130"/>
                  <a:gd name="connsiteY3" fmla="*/ 362 h 2462106"/>
                  <a:gd name="connsiteX4" fmla="*/ 2132735 w 2134130"/>
                  <a:gd name="connsiteY4" fmla="*/ 613384 h 2462106"/>
                  <a:gd name="connsiteX5" fmla="*/ 2134067 w 2134130"/>
                  <a:gd name="connsiteY5" fmla="*/ 616049 h 2462106"/>
                  <a:gd name="connsiteX6" fmla="*/ 2134067 w 2134130"/>
                  <a:gd name="connsiteY6" fmla="*/ 1844758 h 2462106"/>
                  <a:gd name="connsiteX7" fmla="*/ 2132735 w 2134130"/>
                  <a:gd name="connsiteY7" fmla="*/ 1847156 h 2462106"/>
                  <a:gd name="connsiteX8" fmla="*/ 1067942 w 2134130"/>
                  <a:gd name="connsiteY8" fmla="*/ 2461777 h 2462106"/>
                  <a:gd name="connsiteX9" fmla="*/ 1065010 w 2134130"/>
                  <a:gd name="connsiteY9" fmla="*/ 2461777 h 2462106"/>
                  <a:gd name="connsiteX10" fmla="*/ 1816 w 2134130"/>
                  <a:gd name="connsiteY10" fmla="*/ 1846890 h 2462106"/>
                  <a:gd name="connsiteX11" fmla="*/ 217 w 2134130"/>
                  <a:gd name="connsiteY11" fmla="*/ 1844491 h 246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34130" h="2462106">
                    <a:moveTo>
                      <a:pt x="-50" y="616049"/>
                    </a:moveTo>
                    <a:cubicBezTo>
                      <a:pt x="-76" y="614927"/>
                      <a:pt x="564" y="613893"/>
                      <a:pt x="1550" y="613384"/>
                    </a:cubicBezTo>
                    <a:lnTo>
                      <a:pt x="1065543" y="362"/>
                    </a:lnTo>
                    <a:cubicBezTo>
                      <a:pt x="1066449" y="-160"/>
                      <a:pt x="1067568" y="-160"/>
                      <a:pt x="1068475" y="362"/>
                    </a:cubicBezTo>
                    <a:lnTo>
                      <a:pt x="2132735" y="613384"/>
                    </a:lnTo>
                    <a:cubicBezTo>
                      <a:pt x="2133587" y="613999"/>
                      <a:pt x="2134094" y="614996"/>
                      <a:pt x="2134067" y="616049"/>
                    </a:cubicBezTo>
                    <a:lnTo>
                      <a:pt x="2134067" y="1844758"/>
                    </a:lnTo>
                    <a:cubicBezTo>
                      <a:pt x="2134174" y="1845770"/>
                      <a:pt x="2133641" y="1846703"/>
                      <a:pt x="2132735" y="1847156"/>
                    </a:cubicBezTo>
                    <a:lnTo>
                      <a:pt x="1067942" y="2461777"/>
                    </a:lnTo>
                    <a:cubicBezTo>
                      <a:pt x="1067009" y="2462177"/>
                      <a:pt x="1065943" y="2462177"/>
                      <a:pt x="1065010" y="2461777"/>
                    </a:cubicBezTo>
                    <a:lnTo>
                      <a:pt x="1816" y="1846890"/>
                    </a:lnTo>
                    <a:cubicBezTo>
                      <a:pt x="804" y="1846543"/>
                      <a:pt x="164" y="1845557"/>
                      <a:pt x="217" y="1844491"/>
                    </a:cubicBezTo>
                    <a:close/>
                  </a:path>
                </a:pathLst>
              </a:custGeom>
              <a:solidFill>
                <a:schemeClr val="bg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C82E0F7-F11C-D3E6-C037-B207600B0B6A}"/>
                  </a:ext>
                </a:extLst>
              </p:cNvPr>
              <p:cNvSpPr/>
              <p:nvPr/>
            </p:nvSpPr>
            <p:spPr>
              <a:xfrm>
                <a:off x="5208976" y="1563313"/>
                <a:ext cx="1774286" cy="2048806"/>
              </a:xfrm>
              <a:custGeom>
                <a:avLst/>
                <a:gdLst>
                  <a:gd name="connsiteX0" fmla="*/ 0 w 1919025"/>
                  <a:gd name="connsiteY0" fmla="*/ 1661822 h 2215939"/>
                  <a:gd name="connsiteX1" fmla="*/ 0 w 1919025"/>
                  <a:gd name="connsiteY1" fmla="*/ 554118 h 2215939"/>
                  <a:gd name="connsiteX2" fmla="*/ 959513 w 1919025"/>
                  <a:gd name="connsiteY2" fmla="*/ 0 h 2215939"/>
                  <a:gd name="connsiteX3" fmla="*/ 1919026 w 1919025"/>
                  <a:gd name="connsiteY3" fmla="*/ 554118 h 2215939"/>
                  <a:gd name="connsiteX4" fmla="*/ 1919026 w 1919025"/>
                  <a:gd name="connsiteY4" fmla="*/ 1661822 h 2215939"/>
                  <a:gd name="connsiteX5" fmla="*/ 959513 w 1919025"/>
                  <a:gd name="connsiteY5" fmla="*/ 2215940 h 2215939"/>
                  <a:gd name="connsiteX6" fmla="*/ 0 w 1919025"/>
                  <a:gd name="connsiteY6" fmla="*/ 1661822 h 221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9025" h="2215939">
                    <a:moveTo>
                      <a:pt x="0" y="1661822"/>
                    </a:moveTo>
                    <a:lnTo>
                      <a:pt x="0" y="554118"/>
                    </a:lnTo>
                    <a:lnTo>
                      <a:pt x="959513" y="0"/>
                    </a:lnTo>
                    <a:lnTo>
                      <a:pt x="1919026" y="554118"/>
                    </a:lnTo>
                    <a:lnTo>
                      <a:pt x="1919026" y="1661822"/>
                    </a:lnTo>
                    <a:lnTo>
                      <a:pt x="959513" y="2215940"/>
                    </a:lnTo>
                    <a:lnTo>
                      <a:pt x="0" y="1661822"/>
                    </a:lnTo>
                    <a:close/>
                  </a:path>
                </a:pathLst>
              </a:custGeom>
              <a:noFill/>
              <a:ln w="26648" cap="flat">
                <a:solidFill>
                  <a:schemeClr val="accent4"/>
                </a:solidFill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F9BB0CC-34BD-A2F7-01FC-3961BECF9205}"/>
                  </a:ext>
                </a:extLst>
              </p:cNvPr>
              <p:cNvSpPr/>
              <p:nvPr/>
            </p:nvSpPr>
            <p:spPr>
              <a:xfrm>
                <a:off x="5074549" y="5866448"/>
                <a:ext cx="2043140" cy="435932"/>
              </a:xfrm>
              <a:custGeom>
                <a:avLst/>
                <a:gdLst>
                  <a:gd name="connsiteX0" fmla="*/ 2153523 w 2209811"/>
                  <a:gd name="connsiteY0" fmla="*/ -30 h 471493"/>
                  <a:gd name="connsiteX1" fmla="*/ 56188 w 2209811"/>
                  <a:gd name="connsiteY1" fmla="*/ -30 h 471493"/>
                  <a:gd name="connsiteX2" fmla="*/ -50 w 2209811"/>
                  <a:gd name="connsiteY2" fmla="*/ 2636 h 471493"/>
                  <a:gd name="connsiteX3" fmla="*/ 620701 w 2209811"/>
                  <a:gd name="connsiteY3" fmla="*/ 471464 h 471493"/>
                  <a:gd name="connsiteX4" fmla="*/ 1588743 w 2209811"/>
                  <a:gd name="connsiteY4" fmla="*/ 471464 h 471493"/>
                  <a:gd name="connsiteX5" fmla="*/ 2209761 w 2209811"/>
                  <a:gd name="connsiteY5" fmla="*/ 2103 h 471493"/>
                  <a:gd name="connsiteX6" fmla="*/ 2153523 w 2209811"/>
                  <a:gd name="connsiteY6" fmla="*/ -30 h 47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09811" h="471493">
                    <a:moveTo>
                      <a:pt x="2153523" y="-30"/>
                    </a:moveTo>
                    <a:lnTo>
                      <a:pt x="56188" y="-30"/>
                    </a:lnTo>
                    <a:cubicBezTo>
                      <a:pt x="37264" y="-30"/>
                      <a:pt x="18607" y="-30"/>
                      <a:pt x="-50" y="2636"/>
                    </a:cubicBezTo>
                    <a:cubicBezTo>
                      <a:pt x="78896" y="280041"/>
                      <a:pt x="332287" y="471411"/>
                      <a:pt x="620701" y="471464"/>
                    </a:cubicBezTo>
                    <a:lnTo>
                      <a:pt x="1588743" y="471464"/>
                    </a:lnTo>
                    <a:cubicBezTo>
                      <a:pt x="1877450" y="471544"/>
                      <a:pt x="2131054" y="279855"/>
                      <a:pt x="2209761" y="2103"/>
                    </a:cubicBezTo>
                    <a:cubicBezTo>
                      <a:pt x="2191371" y="2103"/>
                      <a:pt x="2172447" y="-30"/>
                      <a:pt x="2153523" y="-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8B1896-82D5-4E1F-AA31-39F2FE9DA2ED}"/>
                  </a:ext>
                </a:extLst>
              </p:cNvPr>
              <p:cNvSpPr txBox="1"/>
              <p:nvPr/>
            </p:nvSpPr>
            <p:spPr>
              <a:xfrm>
                <a:off x="5877950" y="1919928"/>
                <a:ext cx="4363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</a:t>
                </a:r>
                <a:endParaRPr lang="en-I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1E155C-FD34-FCE5-2922-80B3D4666597}"/>
                  </a:ext>
                </a:extLst>
              </p:cNvPr>
              <p:cNvSpPr txBox="1"/>
              <p:nvPr/>
            </p:nvSpPr>
            <p:spPr>
              <a:xfrm>
                <a:off x="5256989" y="4449360"/>
                <a:ext cx="1678257" cy="1113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IN" sz="1400" b="1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Process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12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Monte Carlo Simulation.- Python Coding</a:t>
                </a:r>
                <a:endPara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528CE713-3A2F-4CA6-E47E-D523686AA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2197" y="2473151"/>
                <a:ext cx="667844" cy="7556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BACCCF-2AD3-71CA-75E1-DEE5EE446A79}"/>
                </a:ext>
              </a:extLst>
            </p:cNvPr>
            <p:cNvGrpSpPr/>
            <p:nvPr/>
          </p:nvGrpSpPr>
          <p:grpSpPr>
            <a:xfrm>
              <a:off x="8173652" y="1303566"/>
              <a:ext cx="3529831" cy="6741154"/>
              <a:chOff x="8449423" y="1303566"/>
              <a:chExt cx="3529831" cy="6741154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1C39BCA-B5F2-FF40-3096-DF6AAAF62140}"/>
                  </a:ext>
                </a:extLst>
              </p:cNvPr>
              <p:cNvSpPr/>
              <p:nvPr/>
            </p:nvSpPr>
            <p:spPr>
              <a:xfrm>
                <a:off x="8449423" y="1303566"/>
                <a:ext cx="2264691" cy="2570751"/>
              </a:xfrm>
              <a:custGeom>
                <a:avLst/>
                <a:gdLst>
                  <a:gd name="connsiteX0" fmla="*/ -44 w 2449435"/>
                  <a:gd name="connsiteY0" fmla="*/ 774520 h 2780462"/>
                  <a:gd name="connsiteX1" fmla="*/ 79915 w 2449435"/>
                  <a:gd name="connsiteY1" fmla="*/ 634591 h 2780462"/>
                  <a:gd name="connsiteX2" fmla="*/ 1143909 w 2449435"/>
                  <a:gd name="connsiteY2" fmla="*/ 21569 h 2780462"/>
                  <a:gd name="connsiteX3" fmla="*/ 1305427 w 2449435"/>
                  <a:gd name="connsiteY3" fmla="*/ 21569 h 2780462"/>
                  <a:gd name="connsiteX4" fmla="*/ 2369419 w 2449435"/>
                  <a:gd name="connsiteY4" fmla="*/ 635924 h 2780462"/>
                  <a:gd name="connsiteX5" fmla="*/ 2449379 w 2449435"/>
                  <a:gd name="connsiteY5" fmla="*/ 775852 h 2780462"/>
                  <a:gd name="connsiteX6" fmla="*/ 2449379 w 2449435"/>
                  <a:gd name="connsiteY6" fmla="*/ 2004561 h 2780462"/>
                  <a:gd name="connsiteX7" fmla="*/ 2369419 w 2449435"/>
                  <a:gd name="connsiteY7" fmla="*/ 2144223 h 2780462"/>
                  <a:gd name="connsiteX8" fmla="*/ 1305427 w 2449435"/>
                  <a:gd name="connsiteY8" fmla="*/ 2758844 h 2780462"/>
                  <a:gd name="connsiteX9" fmla="*/ 1143909 w 2449435"/>
                  <a:gd name="connsiteY9" fmla="*/ 2758844 h 2780462"/>
                  <a:gd name="connsiteX10" fmla="*/ 79915 w 2449435"/>
                  <a:gd name="connsiteY10" fmla="*/ 2144223 h 2780462"/>
                  <a:gd name="connsiteX11" fmla="*/ -44 w 2449435"/>
                  <a:gd name="connsiteY11" fmla="*/ 2004561 h 2780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49435" h="2780462">
                    <a:moveTo>
                      <a:pt x="-44" y="774520"/>
                    </a:moveTo>
                    <a:cubicBezTo>
                      <a:pt x="-550" y="716874"/>
                      <a:pt x="29994" y="663414"/>
                      <a:pt x="79915" y="634591"/>
                    </a:cubicBezTo>
                    <a:lnTo>
                      <a:pt x="1143909" y="21569"/>
                    </a:lnTo>
                    <a:cubicBezTo>
                      <a:pt x="1193910" y="-7229"/>
                      <a:pt x="1255425" y="-7229"/>
                      <a:pt x="1305427" y="21569"/>
                    </a:cubicBezTo>
                    <a:lnTo>
                      <a:pt x="2369419" y="635924"/>
                    </a:lnTo>
                    <a:cubicBezTo>
                      <a:pt x="2419341" y="664746"/>
                      <a:pt x="2449886" y="718207"/>
                      <a:pt x="2449379" y="775852"/>
                    </a:cubicBezTo>
                    <a:lnTo>
                      <a:pt x="2449379" y="2004561"/>
                    </a:lnTo>
                    <a:cubicBezTo>
                      <a:pt x="2449806" y="2062105"/>
                      <a:pt x="2419262" y="2115438"/>
                      <a:pt x="2369419" y="2144223"/>
                    </a:cubicBezTo>
                    <a:lnTo>
                      <a:pt x="1305427" y="2758844"/>
                    </a:lnTo>
                    <a:cubicBezTo>
                      <a:pt x="1255425" y="2787630"/>
                      <a:pt x="1193910" y="2787630"/>
                      <a:pt x="1143909" y="2758844"/>
                    </a:cubicBezTo>
                    <a:lnTo>
                      <a:pt x="79915" y="2144223"/>
                    </a:lnTo>
                    <a:cubicBezTo>
                      <a:pt x="30074" y="2115438"/>
                      <a:pt x="-470" y="2062105"/>
                      <a:pt x="-44" y="200456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29F0098-05E3-C5F8-376A-0802A0E3F954}"/>
                  </a:ext>
                </a:extLst>
              </p:cNvPr>
              <p:cNvSpPr/>
              <p:nvPr/>
            </p:nvSpPr>
            <p:spPr>
              <a:xfrm>
                <a:off x="8595068" y="1450084"/>
                <a:ext cx="1973401" cy="2276407"/>
              </a:xfrm>
              <a:custGeom>
                <a:avLst/>
                <a:gdLst>
                  <a:gd name="connsiteX0" fmla="*/ -50 w 2134383"/>
                  <a:gd name="connsiteY0" fmla="*/ 616049 h 2462106"/>
                  <a:gd name="connsiteX1" fmla="*/ 1549 w 2134383"/>
                  <a:gd name="connsiteY1" fmla="*/ 613384 h 2462106"/>
                  <a:gd name="connsiteX2" fmla="*/ 1065808 w 2134383"/>
                  <a:gd name="connsiteY2" fmla="*/ 362 h 2462106"/>
                  <a:gd name="connsiteX3" fmla="*/ 1068741 w 2134383"/>
                  <a:gd name="connsiteY3" fmla="*/ 362 h 2462106"/>
                  <a:gd name="connsiteX4" fmla="*/ 2132734 w 2134383"/>
                  <a:gd name="connsiteY4" fmla="*/ 613384 h 2462106"/>
                  <a:gd name="connsiteX5" fmla="*/ 2134333 w 2134383"/>
                  <a:gd name="connsiteY5" fmla="*/ 616049 h 2462106"/>
                  <a:gd name="connsiteX6" fmla="*/ 2134333 w 2134383"/>
                  <a:gd name="connsiteY6" fmla="*/ 1844758 h 2462106"/>
                  <a:gd name="connsiteX7" fmla="*/ 2132734 w 2134383"/>
                  <a:gd name="connsiteY7" fmla="*/ 1847156 h 2462106"/>
                  <a:gd name="connsiteX8" fmla="*/ 1068474 w 2134383"/>
                  <a:gd name="connsiteY8" fmla="*/ 2461777 h 2462106"/>
                  <a:gd name="connsiteX9" fmla="*/ 1065808 w 2134383"/>
                  <a:gd name="connsiteY9" fmla="*/ 2461777 h 2462106"/>
                  <a:gd name="connsiteX10" fmla="*/ 1549 w 2134383"/>
                  <a:gd name="connsiteY10" fmla="*/ 1846890 h 2462106"/>
                  <a:gd name="connsiteX11" fmla="*/ -50 w 2134383"/>
                  <a:gd name="connsiteY11" fmla="*/ 1844491 h 246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34383" h="2462106">
                    <a:moveTo>
                      <a:pt x="-50" y="616049"/>
                    </a:moveTo>
                    <a:cubicBezTo>
                      <a:pt x="29" y="614959"/>
                      <a:pt x="616" y="613970"/>
                      <a:pt x="1549" y="613384"/>
                    </a:cubicBezTo>
                    <a:lnTo>
                      <a:pt x="1065808" y="362"/>
                    </a:lnTo>
                    <a:cubicBezTo>
                      <a:pt x="1066715" y="-160"/>
                      <a:pt x="1067834" y="-160"/>
                      <a:pt x="1068741" y="362"/>
                    </a:cubicBezTo>
                    <a:lnTo>
                      <a:pt x="2132734" y="613384"/>
                    </a:lnTo>
                    <a:cubicBezTo>
                      <a:pt x="2133666" y="613970"/>
                      <a:pt x="2134253" y="614959"/>
                      <a:pt x="2134333" y="616049"/>
                    </a:cubicBezTo>
                    <a:lnTo>
                      <a:pt x="2134333" y="1844758"/>
                    </a:lnTo>
                    <a:cubicBezTo>
                      <a:pt x="2134306" y="1845797"/>
                      <a:pt x="2133693" y="1846730"/>
                      <a:pt x="2132734" y="1847156"/>
                    </a:cubicBezTo>
                    <a:lnTo>
                      <a:pt x="1068474" y="2461777"/>
                    </a:lnTo>
                    <a:cubicBezTo>
                      <a:pt x="1067621" y="2462177"/>
                      <a:pt x="1066662" y="2462177"/>
                      <a:pt x="1065808" y="2461777"/>
                    </a:cubicBezTo>
                    <a:lnTo>
                      <a:pt x="1549" y="1846890"/>
                    </a:lnTo>
                    <a:cubicBezTo>
                      <a:pt x="590" y="1846463"/>
                      <a:pt x="-23" y="1845530"/>
                      <a:pt x="-50" y="1844491"/>
                    </a:cubicBezTo>
                    <a:close/>
                  </a:path>
                </a:pathLst>
              </a:custGeom>
              <a:solidFill>
                <a:schemeClr val="bg1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369ED87-C6BD-5944-0488-65109CF9A7F1}"/>
                  </a:ext>
                </a:extLst>
              </p:cNvPr>
              <p:cNvSpPr/>
              <p:nvPr/>
            </p:nvSpPr>
            <p:spPr>
              <a:xfrm>
                <a:off x="8694625" y="1563311"/>
                <a:ext cx="1774286" cy="2048806"/>
              </a:xfrm>
              <a:custGeom>
                <a:avLst/>
                <a:gdLst>
                  <a:gd name="connsiteX0" fmla="*/ 0 w 1919025"/>
                  <a:gd name="connsiteY0" fmla="*/ 1661822 h 2215939"/>
                  <a:gd name="connsiteX1" fmla="*/ 0 w 1919025"/>
                  <a:gd name="connsiteY1" fmla="*/ 554118 h 2215939"/>
                  <a:gd name="connsiteX2" fmla="*/ 959513 w 1919025"/>
                  <a:gd name="connsiteY2" fmla="*/ 0 h 2215939"/>
                  <a:gd name="connsiteX3" fmla="*/ 1919026 w 1919025"/>
                  <a:gd name="connsiteY3" fmla="*/ 554118 h 2215939"/>
                  <a:gd name="connsiteX4" fmla="*/ 1919026 w 1919025"/>
                  <a:gd name="connsiteY4" fmla="*/ 1661822 h 2215939"/>
                  <a:gd name="connsiteX5" fmla="*/ 959513 w 1919025"/>
                  <a:gd name="connsiteY5" fmla="*/ 2215940 h 2215939"/>
                  <a:gd name="connsiteX6" fmla="*/ 0 w 1919025"/>
                  <a:gd name="connsiteY6" fmla="*/ 1661822 h 221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9025" h="2215939">
                    <a:moveTo>
                      <a:pt x="0" y="1661822"/>
                    </a:moveTo>
                    <a:lnTo>
                      <a:pt x="0" y="554118"/>
                    </a:lnTo>
                    <a:lnTo>
                      <a:pt x="959513" y="0"/>
                    </a:lnTo>
                    <a:lnTo>
                      <a:pt x="1919026" y="554118"/>
                    </a:lnTo>
                    <a:lnTo>
                      <a:pt x="1919026" y="1661822"/>
                    </a:lnTo>
                    <a:lnTo>
                      <a:pt x="959513" y="2215940"/>
                    </a:lnTo>
                    <a:lnTo>
                      <a:pt x="0" y="1661822"/>
                    </a:lnTo>
                    <a:close/>
                  </a:path>
                </a:pathLst>
              </a:custGeom>
              <a:noFill/>
              <a:ln w="26648" cap="flat">
                <a:solidFill>
                  <a:schemeClr val="accent2"/>
                </a:solidFill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F64AC2-021A-CDE4-5790-B1F4FB09B60B}"/>
                  </a:ext>
                </a:extLst>
              </p:cNvPr>
              <p:cNvSpPr/>
              <p:nvPr/>
            </p:nvSpPr>
            <p:spPr>
              <a:xfrm>
                <a:off x="8564741" y="7608788"/>
                <a:ext cx="2042648" cy="435932"/>
              </a:xfrm>
              <a:custGeom>
                <a:avLst/>
                <a:gdLst>
                  <a:gd name="connsiteX0" fmla="*/ 2152724 w 2209278"/>
                  <a:gd name="connsiteY0" fmla="*/ -30 h 471493"/>
                  <a:gd name="connsiteX1" fmla="*/ 56188 w 2209278"/>
                  <a:gd name="connsiteY1" fmla="*/ -30 h 471493"/>
                  <a:gd name="connsiteX2" fmla="*/ -50 w 2209278"/>
                  <a:gd name="connsiteY2" fmla="*/ 2636 h 471493"/>
                  <a:gd name="connsiteX3" fmla="*/ 620435 w 2209278"/>
                  <a:gd name="connsiteY3" fmla="*/ 471464 h 471493"/>
                  <a:gd name="connsiteX4" fmla="*/ 1588476 w 2209278"/>
                  <a:gd name="connsiteY4" fmla="*/ 471464 h 471493"/>
                  <a:gd name="connsiteX5" fmla="*/ 2209228 w 2209278"/>
                  <a:gd name="connsiteY5" fmla="*/ 2103 h 471493"/>
                  <a:gd name="connsiteX6" fmla="*/ 2152724 w 2209278"/>
                  <a:gd name="connsiteY6" fmla="*/ -30 h 47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09278" h="471493">
                    <a:moveTo>
                      <a:pt x="2152724" y="-30"/>
                    </a:moveTo>
                    <a:lnTo>
                      <a:pt x="56188" y="-30"/>
                    </a:lnTo>
                    <a:cubicBezTo>
                      <a:pt x="36998" y="-30"/>
                      <a:pt x="18340" y="-30"/>
                      <a:pt x="-50" y="2636"/>
                    </a:cubicBezTo>
                    <a:cubicBezTo>
                      <a:pt x="78789" y="279988"/>
                      <a:pt x="332075" y="471384"/>
                      <a:pt x="620435" y="471464"/>
                    </a:cubicBezTo>
                    <a:lnTo>
                      <a:pt x="1588476" y="471464"/>
                    </a:lnTo>
                    <a:cubicBezTo>
                      <a:pt x="1877024" y="471251"/>
                      <a:pt x="2130388" y="279668"/>
                      <a:pt x="2209228" y="2103"/>
                    </a:cubicBezTo>
                    <a:cubicBezTo>
                      <a:pt x="2190571" y="2103"/>
                      <a:pt x="2171914" y="-30"/>
                      <a:pt x="2152724" y="-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6648" cap="flat">
                <a:noFill/>
                <a:prstDash val="solid"/>
                <a:miter/>
              </a:ln>
              <a:effectLst>
                <a:outerShdw blurRad="114300" sx="102000" sy="102000" algn="ctr" rotWithShape="0">
                  <a:prstClr val="black">
                    <a:alpha val="1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053691-4398-E93C-9100-5F70CB697BB5}"/>
                  </a:ext>
                </a:extLst>
              </p:cNvPr>
              <p:cNvSpPr txBox="1"/>
              <p:nvPr/>
            </p:nvSpPr>
            <p:spPr>
              <a:xfrm>
                <a:off x="9333944" y="1919928"/>
                <a:ext cx="4956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</a:t>
                </a:r>
                <a:endParaRPr lang="en-I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A967E8-BEE1-0260-7C7A-C7C8B27F6546}"/>
                  </a:ext>
                </a:extLst>
              </p:cNvPr>
              <p:cNvSpPr txBox="1"/>
              <p:nvPr/>
            </p:nvSpPr>
            <p:spPr>
              <a:xfrm>
                <a:off x="8449423" y="4138645"/>
                <a:ext cx="3529831" cy="3230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b="1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Output</a:t>
                </a:r>
              </a:p>
              <a:p>
                <a:r>
                  <a:rPr lang="en-US" sz="1400" dirty="0"/>
                  <a:t>Total</a:t>
                </a:r>
              </a:p>
              <a:p>
                <a:r>
                  <a:rPr lang="en-US" sz="1400" dirty="0"/>
                  <a:t> 25-year cost </a:t>
                </a:r>
                <a:r>
                  <a:rPr lang="en-US" sz="1000" dirty="0"/>
                  <a:t>(Purchase + Holding + Exposure)</a:t>
                </a:r>
                <a:r>
                  <a:rPr lang="en-US" sz="2400" dirty="0"/>
                  <a:t>:</a:t>
                </a:r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0 spares:     $40.86B</a:t>
                </a:r>
              </a:p>
              <a:p>
                <a:r>
                  <a:rPr lang="en-US" sz="1400" dirty="0"/>
                  <a:t>1 spare :      $5.22B</a:t>
                </a:r>
              </a:p>
              <a:p>
                <a:r>
                  <a:rPr lang="en-US" sz="1400" dirty="0"/>
                  <a:t>2 spares:     $518M</a:t>
                </a:r>
              </a:p>
              <a:p>
                <a:r>
                  <a:rPr lang="en-US" sz="1400" dirty="0"/>
                  <a:t>3 spares:     $41.9M</a:t>
                </a:r>
              </a:p>
              <a:p>
                <a:r>
                  <a:rPr lang="en-US" sz="1400" dirty="0"/>
                  <a:t>4 spares:     $6.8M</a:t>
                </a: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5 spares:     </a:t>
                </a:r>
                <a:r>
                  <a:rPr lang="en-US" sz="1400" dirty="0"/>
                  <a:t>$1.20M </a:t>
                </a:r>
                <a:r>
                  <a:rPr lang="en-US" sz="1200" dirty="0"/>
                  <a:t>(minimum total cost)</a:t>
                </a:r>
                <a:endParaRPr lang="en-US" sz="1400" dirty="0"/>
              </a:p>
              <a:p>
                <a:r>
                  <a:rPr lang="en-US" sz="1400" dirty="0"/>
                  <a:t>6+ spares:  ≈ $2.3M</a:t>
                </a:r>
              </a:p>
            </p:txBody>
          </p:sp>
          <p:pic>
            <p:nvPicPr>
              <p:cNvPr id="17" name="Picture 6" descr="Output Icons - Download Free Vector Icons | Noun Project">
                <a:extLst>
                  <a:ext uri="{FF2B5EF4-FFF2-40B4-BE49-F238E27FC236}">
                    <a16:creationId xmlns:a16="http://schemas.microsoft.com/office/drawing/2014/main" id="{21BEA3DF-5D1B-9DEC-DA87-D61357EBD0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31096" y="2600306"/>
                <a:ext cx="501344" cy="5013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5B97755C-F597-08B9-E951-A3A7CAE2BA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9266" y="5624363"/>
            <a:ext cx="3083329" cy="3947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33A982A-171E-FE95-F75B-C0AF074A3287}"/>
              </a:ext>
            </a:extLst>
          </p:cNvPr>
          <p:cNvSpPr txBox="1"/>
          <p:nvPr/>
        </p:nvSpPr>
        <p:spPr>
          <a:xfrm>
            <a:off x="3373873" y="5214401"/>
            <a:ext cx="1829711" cy="367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 Synopsis</a:t>
            </a:r>
          </a:p>
        </p:txBody>
      </p:sp>
    </p:spTree>
    <p:extLst>
      <p:ext uri="{BB962C8B-B14F-4D97-AF65-F5344CB8AC3E}">
        <p14:creationId xmlns:p14="http://schemas.microsoft.com/office/powerpoint/2010/main" val="142749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E78BB7-962F-D313-2BEC-419699FA5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248372"/>
              </p:ext>
            </p:extLst>
          </p:nvPr>
        </p:nvGraphicFramePr>
        <p:xfrm>
          <a:off x="426720" y="967232"/>
          <a:ext cx="794004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CDD7-9E67-133C-D073-34BBC656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1"/>
            <a:ext cx="1956816" cy="1143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DD6909"/>
                </a:solidFill>
              </a:rPr>
              <a:t>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357A1-F2C7-3800-7C1E-9F6BAB36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289306"/>
            <a:ext cx="8229600" cy="106070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1800" dirty="0"/>
              <a:t>Quick decision making in comparison to other tools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Quantitative showcase</a:t>
            </a:r>
          </a:p>
          <a:p>
            <a:endParaRPr lang="en-IN" sz="1800" dirty="0"/>
          </a:p>
          <a:p>
            <a:endParaRPr lang="en-IN" sz="3600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D5B8B6-5F5C-88C6-32EA-C0B6F6B46E4A}"/>
              </a:ext>
            </a:extLst>
          </p:cNvPr>
          <p:cNvSpPr txBox="1">
            <a:spLocks/>
          </p:cNvSpPr>
          <p:nvPr/>
        </p:nvSpPr>
        <p:spPr>
          <a:xfrm>
            <a:off x="618744" y="4742689"/>
            <a:ext cx="8229600" cy="1060703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>
              <a:solidFill>
                <a:srgbClr val="DD6909"/>
              </a:solidFill>
            </a:endParaRPr>
          </a:p>
          <a:p>
            <a:endParaRPr lang="en-IN" sz="3600" dirty="0">
              <a:solidFill>
                <a:srgbClr val="DD6909"/>
              </a:solidFill>
            </a:endParaRPr>
          </a:p>
          <a:p>
            <a:r>
              <a:rPr lang="en-IN" dirty="0">
                <a:solidFill>
                  <a:srgbClr val="DD6909"/>
                </a:solidFill>
              </a:rPr>
              <a:t>Contact: Madhab</a:t>
            </a:r>
          </a:p>
          <a:p>
            <a:r>
              <a:rPr lang="en-IN" dirty="0" err="1">
                <a:solidFill>
                  <a:srgbClr val="DD6909"/>
                </a:solidFill>
              </a:rPr>
              <a:t>Whatsup</a:t>
            </a:r>
            <a:r>
              <a:rPr lang="en-IN" dirty="0">
                <a:solidFill>
                  <a:srgbClr val="DD6909"/>
                </a:solidFill>
              </a:rPr>
              <a:t>: +919937150222</a:t>
            </a:r>
          </a:p>
          <a:p>
            <a:r>
              <a:rPr lang="en-IN" sz="3300" dirty="0">
                <a:solidFill>
                  <a:srgbClr val="DD6909"/>
                </a:solidFill>
              </a:rPr>
              <a:t>This resource is intended for corporate use only.</a:t>
            </a:r>
          </a:p>
          <a:p>
            <a:r>
              <a:rPr lang="en-IN" sz="3300" dirty="0">
                <a:solidFill>
                  <a:srgbClr val="DD6909"/>
                </a:solidFill>
              </a:rPr>
              <a:t>Price: Negotiable</a:t>
            </a:r>
          </a:p>
          <a:p>
            <a:endParaRPr lang="en-IN" dirty="0">
              <a:solidFill>
                <a:srgbClr val="DD69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04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192</Words>
  <Application>Microsoft Office PowerPoint</Application>
  <PresentationFormat>On-screen Show (4:3)</PresentationFormat>
  <Paragraphs>52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Fira Sans Extra Condensed Medium</vt:lpstr>
      <vt:lpstr>Roboto</vt:lpstr>
      <vt:lpstr>Segoe UI</vt:lpstr>
      <vt:lpstr>Office Theme</vt:lpstr>
      <vt:lpstr>Spare Stock Strategy – Risk Mitigation</vt:lpstr>
      <vt:lpstr>PowerPoint Presentation</vt:lpstr>
      <vt:lpstr>PowerPoint Presentation</vt:lpstr>
      <vt:lpstr>Advantage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Nilamadhab Sahu</dc:creator>
  <cp:keywords/>
  <dc:description>generated using python-pptx</dc:description>
  <cp:lastModifiedBy>Nilamadhab Sahu</cp:lastModifiedBy>
  <cp:revision>3</cp:revision>
  <dcterms:created xsi:type="dcterms:W3CDTF">2013-01-27T09:14:16Z</dcterms:created>
  <dcterms:modified xsi:type="dcterms:W3CDTF">2026-07-15T09:36:18Z</dcterms:modified>
  <cp:category/>
</cp:coreProperties>
</file>